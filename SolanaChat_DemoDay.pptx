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8648" y="1051560"/>
            <a:ext cx="914400" cy="914400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5937656" y="1307592"/>
            <a:ext cx="201168" cy="201168"/>
          </a:xfrm>
          <a:prstGeom prst="line">
            <a:avLst/>
          </a:prstGeom>
          <a:noFill/>
          <a:ln w="1016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2700000">
            <a:off x="5937656" y="1508760"/>
            <a:ext cx="201168" cy="201168"/>
          </a:xfrm>
          <a:prstGeom prst="line">
            <a:avLst/>
          </a:prstGeom>
          <a:noFill/>
          <a:ln w="1016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50712" y="1389888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233172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SolanaChat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0" y="3337560"/>
            <a:ext cx="12191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ctr" indent="0" marL="0">
              <a:buNone/>
            </a:pPr>
            <a:r>
              <a:rPr lang="en-US" sz="20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CFO</a:t>
            </a:r>
            <a:pPr algn="ctr" indent="0" marL="0">
              <a:buNone/>
            </a:pPr>
            <a:r>
              <a:rPr lang="en-US" sz="20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Solana DeFi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194560" y="4343400"/>
            <a:ext cx="7799832" cy="777240"/>
          </a:xfrm>
          <a:prstGeom prst="roundRect">
            <a:avLst>
              <a:gd name="adj" fmla="val 16471"/>
            </a:avLst>
          </a:prstGeom>
          <a:solidFill>
            <a:srgbClr val="17171C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43434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"DCA $50 into SOL every week, auto-compound my Kamino vault"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0" y="56235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Day  ·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rewards active management.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can't keep up.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456432" cy="3383280"/>
          </a:xfrm>
          <a:prstGeom prst="roundRect">
            <a:avLst>
              <a:gd name="adj" fmla="val 3243"/>
            </a:avLst>
          </a:prstGeom>
          <a:solidFill>
            <a:srgbClr val="17171C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2624328"/>
            <a:ext cx="502920" cy="502920"/>
          </a:xfrm>
          <a:prstGeom prst="ellipse">
            <a:avLst/>
          </a:prstGeom>
          <a:solidFill>
            <a:srgbClr val="2A1F3D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624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41248" y="3337560"/>
            <a:ext cx="28712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repetitive execution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41248" y="4023360"/>
            <a:ext cx="287121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DCAs, rebalances, and compounding all require the user to sign every transaction, on every protocol, every time.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61104" y="2331720"/>
            <a:ext cx="3456432" cy="3383280"/>
          </a:xfrm>
          <a:prstGeom prst="roundRect">
            <a:avLst>
              <a:gd name="adj" fmla="val 3243"/>
            </a:avLst>
          </a:prstGeom>
          <a:solidFill>
            <a:srgbClr val="17171C"/>
          </a:solidFill>
          <a:ln/>
        </p:spPr>
      </p:sp>
      <p:sp>
        <p:nvSpPr>
          <p:cNvPr id="10" name="Shape 8"/>
          <p:cNvSpPr/>
          <p:nvPr/>
        </p:nvSpPr>
        <p:spPr>
          <a:xfrm>
            <a:off x="4553712" y="2624328"/>
            <a:ext cx="502920" cy="502920"/>
          </a:xfrm>
          <a:prstGeom prst="ellipse">
            <a:avLst/>
          </a:prstGeom>
          <a:solidFill>
            <a:srgbClr val="2A1F3D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2624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53712" y="3337560"/>
            <a:ext cx="28712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tooling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553712" y="4023360"/>
            <a:ext cx="287121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one strategy means juggling separate dashboards, wallets, and approval flows across Jupiter, Kamino, and Drift.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73568" y="2331720"/>
            <a:ext cx="3456432" cy="3383280"/>
          </a:xfrm>
          <a:prstGeom prst="roundRect">
            <a:avLst>
              <a:gd name="adj" fmla="val 3243"/>
            </a:avLst>
          </a:prstGeom>
          <a:solidFill>
            <a:srgbClr val="17171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66176" y="2624328"/>
            <a:ext cx="502920" cy="502920"/>
          </a:xfrm>
          <a:prstGeom prst="ellipse">
            <a:avLst/>
          </a:prstGeom>
          <a:solidFill>
            <a:srgbClr val="2A1F3D"/>
          </a:solidFill>
          <a:ln/>
        </p:spPr>
      </p:sp>
      <p:sp>
        <p:nvSpPr>
          <p:cNvPr id="16" name="Text 14"/>
          <p:cNvSpPr/>
          <p:nvPr/>
        </p:nvSpPr>
        <p:spPr>
          <a:xfrm>
            <a:off x="8266176" y="2624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66176" y="3337560"/>
            <a:ext cx="28712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left on the table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266176" y="4023360"/>
            <a:ext cx="287121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stop-losses, no auto-compounding, no scoped allowances by default — capital sits exposed or under-optimized between check-ins.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SOLANACHAT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it what you want.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your positions.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SolanaChat is a natural-language interface for managing on-chain DeFi positions — the On-Chain CFO that automates the operational work of running a portfolio across Solana's leading protocols.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886200"/>
            <a:ext cx="109728" cy="109728"/>
          </a:xfrm>
          <a:prstGeom prst="ellipse">
            <a:avLst/>
          </a:prstGeom>
          <a:solidFill>
            <a:srgbClr val="14F19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7673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270248"/>
            <a:ext cx="109728" cy="109728"/>
          </a:xfrm>
          <a:prstGeom prst="ellipse">
            <a:avLst/>
          </a:prstGeom>
          <a:solidFill>
            <a:srgbClr val="14F19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15137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654296"/>
            <a:ext cx="109728" cy="109728"/>
          </a:xfrm>
          <a:prstGeom prst="ellipse">
            <a:avLst/>
          </a:prstGeom>
          <a:solidFill>
            <a:srgbClr val="14F19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53542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Auto-compounding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038344"/>
            <a:ext cx="109728" cy="109728"/>
          </a:xfrm>
          <a:prstGeom prst="ellipse">
            <a:avLst/>
          </a:prstGeom>
          <a:solidFill>
            <a:srgbClr val="14F19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9194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Stop-losses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422392"/>
            <a:ext cx="109728" cy="109728"/>
          </a:xfrm>
          <a:prstGeom prst="ellipse">
            <a:avLst/>
          </a:prstGeom>
          <a:solidFill>
            <a:srgbClr val="14F19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303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Allowances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75120" y="822960"/>
            <a:ext cx="4937760" cy="5394960"/>
          </a:xfrm>
          <a:prstGeom prst="roundRect">
            <a:avLst>
              <a:gd name="adj" fmla="val 2963"/>
            </a:avLst>
          </a:prstGeom>
          <a:solidFill>
            <a:srgbClr val="17171C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95160" y="1143000"/>
            <a:ext cx="128016" cy="128016"/>
          </a:xfrm>
          <a:prstGeom prst="ellipse">
            <a:avLst/>
          </a:prstGeom>
          <a:solidFill>
            <a:srgbClr val="3A3A44"/>
          </a:solidFill>
          <a:ln/>
        </p:spPr>
      </p:sp>
      <p:sp>
        <p:nvSpPr>
          <p:cNvPr id="17" name="Shape 15"/>
          <p:cNvSpPr/>
          <p:nvPr/>
        </p:nvSpPr>
        <p:spPr>
          <a:xfrm>
            <a:off x="7242048" y="1143000"/>
            <a:ext cx="128016" cy="128016"/>
          </a:xfrm>
          <a:prstGeom prst="ellipse">
            <a:avLst/>
          </a:prstGeom>
          <a:solidFill>
            <a:srgbClr val="3A3A44"/>
          </a:solidFill>
          <a:ln/>
        </p:spPr>
      </p:sp>
      <p:sp>
        <p:nvSpPr>
          <p:cNvPr id="18" name="Shape 16"/>
          <p:cNvSpPr/>
          <p:nvPr/>
        </p:nvSpPr>
        <p:spPr>
          <a:xfrm>
            <a:off x="7488936" y="1143000"/>
            <a:ext cx="128016" cy="128016"/>
          </a:xfrm>
          <a:prstGeom prst="ellipse">
            <a:avLst/>
          </a:prstGeom>
          <a:solidFill>
            <a:srgbClr val="3A3A44"/>
          </a:solidFill>
          <a:ln/>
        </p:spPr>
      </p:sp>
      <p:sp>
        <p:nvSpPr>
          <p:cNvPr id="19" name="Shape 17"/>
          <p:cNvSpPr/>
          <p:nvPr/>
        </p:nvSpPr>
        <p:spPr>
          <a:xfrm>
            <a:off x="7040880" y="1600200"/>
            <a:ext cx="3749040" cy="960120"/>
          </a:xfrm>
          <a:prstGeom prst="roundRect">
            <a:avLst>
              <a:gd name="adj" fmla="val 11429"/>
            </a:avLst>
          </a:prstGeom>
          <a:solidFill>
            <a:srgbClr val="9945FF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0" y="160020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Auto-compound my Kamino vault weekly and stop-loss JitoSOL at -15%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040880" y="2788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PLAN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40880" y="3154680"/>
            <a:ext cx="4206240" cy="749808"/>
          </a:xfrm>
          <a:prstGeom prst="roundRect">
            <a:avLst>
              <a:gd name="adj" fmla="val 12195"/>
            </a:avLst>
          </a:prstGeom>
          <a:solidFill>
            <a:srgbClr val="1E1E24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0" y="3154680"/>
            <a:ext cx="1554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Kamino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778240" y="315468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Auto-compound rewards → weekly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040880" y="4050792"/>
            <a:ext cx="4206240" cy="749808"/>
          </a:xfrm>
          <a:prstGeom prst="roundRect">
            <a:avLst>
              <a:gd name="adj" fmla="val 12195"/>
            </a:avLst>
          </a:prstGeom>
          <a:solidFill>
            <a:srgbClr val="1E1E24"/>
          </a:solidFill>
          <a:ln/>
        </p:spPr>
      </p:sp>
      <p:sp>
        <p:nvSpPr>
          <p:cNvPr id="26" name="Text 24"/>
          <p:cNvSpPr/>
          <p:nvPr/>
        </p:nvSpPr>
        <p:spPr>
          <a:xfrm>
            <a:off x="7223760" y="4050792"/>
            <a:ext cx="1554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/ Oracle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778240" y="4050792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Stop-loss trigger → JitoSOL @ -15%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040880" y="4946904"/>
            <a:ext cx="4206240" cy="749808"/>
          </a:xfrm>
          <a:prstGeom prst="roundRect">
            <a:avLst>
              <a:gd name="adj" fmla="val 12195"/>
            </a:avLst>
          </a:prstGeom>
          <a:solidFill>
            <a:srgbClr val="1E1E24"/>
          </a:solidFill>
          <a:ln/>
        </p:spPr>
      </p:sp>
      <p:sp>
        <p:nvSpPr>
          <p:cNvPr id="29" name="Text 27"/>
          <p:cNvSpPr/>
          <p:nvPr/>
        </p:nvSpPr>
        <p:spPr>
          <a:xfrm>
            <a:off x="7223760" y="4946904"/>
            <a:ext cx="1554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Allowances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778240" y="4946904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Scoped, revocable on-chain permission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SOLANACHAT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plain language to on-chain execution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246120" cy="3657600"/>
          </a:xfrm>
          <a:prstGeom prst="roundRect">
            <a:avLst>
              <a:gd name="adj" fmla="val 3380"/>
            </a:avLst>
          </a:prstGeom>
          <a:solidFill>
            <a:srgbClr val="17171C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1945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97280" y="29260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3429000"/>
            <a:ext cx="2697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strategy in plain language — no protocol docs, no manual routing.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 rot="2700000">
            <a:off x="4119372" y="3666744"/>
            <a:ext cx="219456" cy="128016"/>
          </a:xfrm>
          <a:prstGeom prst="line">
            <a:avLst/>
          </a:prstGeom>
          <a:noFill/>
          <a:ln w="38100">
            <a:solidFill>
              <a:srgbClr val="14F19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2700000">
            <a:off x="4119372" y="3794760"/>
            <a:ext cx="219456" cy="128016"/>
          </a:xfrm>
          <a:prstGeom prst="line">
            <a:avLst/>
          </a:prstGeom>
          <a:noFill/>
          <a:ln w="38100">
            <a:solidFill>
              <a:srgbClr val="14F19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965960"/>
            <a:ext cx="3246120" cy="3657600"/>
          </a:xfrm>
          <a:prstGeom prst="roundRect">
            <a:avLst>
              <a:gd name="adj" fmla="val 3380"/>
            </a:avLst>
          </a:prstGeom>
          <a:solidFill>
            <a:srgbClr val="17171C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21945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846320" y="29260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6320" y="3429000"/>
            <a:ext cx="2697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SolanaChat translates it into an executable, cross-protocol on-chain plan.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 rot="2700000">
            <a:off x="7868412" y="3666744"/>
            <a:ext cx="219456" cy="128016"/>
          </a:xfrm>
          <a:prstGeom prst="line">
            <a:avLst/>
          </a:prstGeom>
          <a:noFill/>
          <a:ln w="38100">
            <a:solidFill>
              <a:srgbClr val="14F19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-2700000">
            <a:off x="7868412" y="3794760"/>
            <a:ext cx="219456" cy="128016"/>
          </a:xfrm>
          <a:prstGeom prst="line">
            <a:avLst/>
          </a:prstGeom>
          <a:noFill/>
          <a:ln w="38100">
            <a:solidFill>
              <a:srgbClr val="14F19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1965960"/>
            <a:ext cx="3246120" cy="3657600"/>
          </a:xfrm>
          <a:prstGeom prst="roundRect">
            <a:avLst>
              <a:gd name="adj" fmla="val 3380"/>
            </a:avLst>
          </a:prstGeom>
          <a:solidFill>
            <a:srgbClr val="17171C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0" y="21945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595360" y="29260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&amp; Monitor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95360" y="3429000"/>
            <a:ext cx="2697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run via scoped Allowances — fully non-custodial — and are continuously re-optimized.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SOLANACHAT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Solana's new Allowances &amp; Subscriptions</a:t>
            </a:r>
            <a:endParaRPr lang="en-US" sz="2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 makes this possible — right now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65760" cy="365760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5" name="Shape 3"/>
          <p:cNvSpPr/>
          <p:nvPr/>
        </p:nvSpPr>
        <p:spPr>
          <a:xfrm rot="2700000">
            <a:off x="658368" y="2450592"/>
            <a:ext cx="128016" cy="128016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2700000">
            <a:off x="658368" y="2505456"/>
            <a:ext cx="128016" cy="128016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28600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native on-chain allowances primitive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43000" y="269748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Recurring, scoped permissions land natively on Solana — no custodial bots, no fragile session keys, no giving up control of funds.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630168"/>
            <a:ext cx="365760" cy="365760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10" name="Shape 8"/>
          <p:cNvSpPr/>
          <p:nvPr/>
        </p:nvSpPr>
        <p:spPr>
          <a:xfrm rot="2700000">
            <a:off x="658368" y="3749040"/>
            <a:ext cx="128016" cy="128016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2700000">
            <a:off x="658368" y="3803904"/>
            <a:ext cx="128016" cy="128016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584448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window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143000" y="399592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dominant natural-language automation layer exists yet for Solana DeFi — the category is still being defined.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928616"/>
            <a:ext cx="365760" cy="365760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15" name="Shape 13"/>
          <p:cNvSpPr/>
          <p:nvPr/>
        </p:nvSpPr>
        <p:spPr>
          <a:xfrm rot="2700000">
            <a:off x="658368" y="5047488"/>
            <a:ext cx="128016" cy="128016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-2700000">
            <a:off x="658368" y="5102352"/>
            <a:ext cx="128016" cy="128016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882896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built for automation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143000" y="5294376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throughput in the ~1,900 TPS range against a much higher theoretical ceiling keeps frequent, automated actions cheap enough to run at retail scale.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Chainspect network telemetry, mid-2026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SOLANACHAT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large, active user base — still managing</a:t>
            </a:r>
            <a:endParaRPr lang="en-US" sz="2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by hand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17171C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606040"/>
            <a:ext cx="22037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$6.16B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49808" y="3337560"/>
            <a:ext cx="22037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DeFi TVL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4187952"/>
            <a:ext cx="2203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2026, Messari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83280" y="228600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17171C"/>
          </a:solidFill>
          <a:ln/>
        </p:spPr>
      </p:sp>
      <p:sp>
        <p:nvSpPr>
          <p:cNvPr id="9" name="Text 7"/>
          <p:cNvSpPr/>
          <p:nvPr/>
        </p:nvSpPr>
        <p:spPr>
          <a:xfrm>
            <a:off x="3584448" y="2606040"/>
            <a:ext cx="22037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84448" y="3337560"/>
            <a:ext cx="22037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daily active addresses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84448" y="4187952"/>
            <a:ext cx="2203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2026, Messari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228600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17171C"/>
          </a:solidFill>
          <a:ln/>
        </p:spPr>
      </p:sp>
      <p:sp>
        <p:nvSpPr>
          <p:cNvPr id="13" name="Text 11"/>
          <p:cNvSpPr/>
          <p:nvPr/>
        </p:nvSpPr>
        <p:spPr>
          <a:xfrm>
            <a:off x="6419088" y="2606040"/>
            <a:ext cx="22037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$117.7B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19088" y="3337560"/>
            <a:ext cx="22037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2026 DEX volume — #1 of any chain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19088" y="4187952"/>
            <a:ext cx="2203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Phemex / Solana Foundation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052560" y="228600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17171C"/>
          </a:solidFill>
          <a:ln/>
        </p:spPr>
      </p:sp>
      <p:sp>
        <p:nvSpPr>
          <p:cNvPr id="17" name="Text 15"/>
          <p:cNvSpPr/>
          <p:nvPr/>
        </p:nvSpPr>
        <p:spPr>
          <a:xfrm>
            <a:off x="9253728" y="2606040"/>
            <a:ext cx="22037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906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253728" y="3337560"/>
            <a:ext cx="22037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validators securing the network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53728" y="4187952"/>
            <a:ext cx="2203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48920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DeFi has weathered a broad 2026 TVL drawdown driven mainly by token-price compression — not user attrition. Active-address and DEX-volume trends point to a growing, engaged base that today has no natural-language way to automate its own positions.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SOLANACHAT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SOLANACHAT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how DeFi actually gets managed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892040" y="1965960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DeFi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223760" y="1965960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&amp; Scripts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418320" y="196596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241A38"/>
          </a:solidFill>
          <a:ln/>
        </p:spPr>
      </p:sp>
      <p:sp>
        <p:nvSpPr>
          <p:cNvPr id="8" name="Text 6"/>
          <p:cNvSpPr/>
          <p:nvPr/>
        </p:nvSpPr>
        <p:spPr>
          <a:xfrm>
            <a:off x="9555480" y="1965960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SolanaChat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62432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control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92040" y="2624328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223760" y="2624328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418320" y="2624328"/>
            <a:ext cx="2331720" cy="658368"/>
          </a:xfrm>
          <a:prstGeom prst="rect">
            <a:avLst/>
          </a:prstGeom>
          <a:solidFill>
            <a:srgbClr val="1B1424"/>
          </a:solidFill>
          <a:ln/>
        </p:spPr>
      </p:sp>
      <p:sp>
        <p:nvSpPr>
          <p:cNvPr id="13" name="Text 11"/>
          <p:cNvSpPr/>
          <p:nvPr/>
        </p:nvSpPr>
        <p:spPr>
          <a:xfrm>
            <a:off x="9555480" y="2624328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282696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Cross-protocol (Jupiter, Kamino, Drift)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92040" y="3282696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23760" y="3282696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418320" y="3282696"/>
            <a:ext cx="2331720" cy="658368"/>
          </a:xfrm>
          <a:prstGeom prst="rect">
            <a:avLst/>
          </a:prstGeom>
          <a:solidFill>
            <a:srgbClr val="1B1424"/>
          </a:solidFill>
          <a:ln/>
        </p:spPr>
      </p:sp>
      <p:sp>
        <p:nvSpPr>
          <p:cNvPr id="18" name="Text 16"/>
          <p:cNvSpPr/>
          <p:nvPr/>
        </p:nvSpPr>
        <p:spPr>
          <a:xfrm>
            <a:off x="9555480" y="3282696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941064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Non-custodial via native Allowances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92040" y="3941064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23760" y="3941064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418320" y="3941064"/>
            <a:ext cx="2331720" cy="658368"/>
          </a:xfrm>
          <a:prstGeom prst="rect">
            <a:avLst/>
          </a:prstGeom>
          <a:solidFill>
            <a:srgbClr val="1B1424"/>
          </a:solidFill>
          <a:ln/>
        </p:spPr>
      </p:sp>
      <p:sp>
        <p:nvSpPr>
          <p:cNvPr id="23" name="Text 21"/>
          <p:cNvSpPr/>
          <p:nvPr/>
        </p:nvSpPr>
        <p:spPr>
          <a:xfrm>
            <a:off x="9555480" y="3941064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459943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monitoring &amp; re-optimization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892040" y="4599432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23760" y="4599432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setup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418320" y="4599432"/>
            <a:ext cx="2331720" cy="658368"/>
          </a:xfrm>
          <a:prstGeom prst="rect">
            <a:avLst/>
          </a:prstGeom>
          <a:solidFill>
            <a:srgbClr val="1B1424"/>
          </a:solidFill>
          <a:ln/>
        </p:spPr>
      </p:sp>
      <p:sp>
        <p:nvSpPr>
          <p:cNvPr id="28" name="Text 26"/>
          <p:cNvSpPr/>
          <p:nvPr/>
        </p:nvSpPr>
        <p:spPr>
          <a:xfrm>
            <a:off x="9555480" y="4599432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5800" y="525780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time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892040" y="5257800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223760" y="5257800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(technical)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418320" y="5257800"/>
            <a:ext cx="2331720" cy="658368"/>
          </a:xfrm>
          <a:prstGeom prst="rect">
            <a:avLst/>
          </a:prstGeom>
          <a:solidFill>
            <a:srgbClr val="1B1424"/>
          </a:solidFill>
          <a:ln/>
        </p:spPr>
      </p:sp>
      <p:sp>
        <p:nvSpPr>
          <p:cNvPr id="33" name="Text 31"/>
          <p:cNvSpPr/>
          <p:nvPr/>
        </p:nvSpPr>
        <p:spPr>
          <a:xfrm>
            <a:off x="9555480" y="5257800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SOLANACHAT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with real Solana DeFi users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build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running structured outreach to active Solana protocol users — with messaging calibrated to each community's norms — to pressure-test demand and prioritize the first automation primitives we ship.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2011680" cy="1280160"/>
          </a:xfrm>
          <a:prstGeom prst="roundRect">
            <a:avLst>
              <a:gd name="adj" fmla="val 8571"/>
            </a:avLst>
          </a:prstGeom>
          <a:solidFill>
            <a:srgbClr val="17171C"/>
          </a:solidFill>
          <a:ln/>
        </p:spPr>
      </p:sp>
      <p:sp>
        <p:nvSpPr>
          <p:cNvPr id="6" name="Shape 4"/>
          <p:cNvSpPr/>
          <p:nvPr/>
        </p:nvSpPr>
        <p:spPr>
          <a:xfrm>
            <a:off x="1389888" y="3401568"/>
            <a:ext cx="329184" cy="329184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886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/ Twitter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61488" y="3200400"/>
            <a:ext cx="2011680" cy="1280160"/>
          </a:xfrm>
          <a:prstGeom prst="roundRect">
            <a:avLst>
              <a:gd name="adj" fmla="val 8571"/>
            </a:avLst>
          </a:prstGeom>
          <a:solidFill>
            <a:srgbClr val="17171C"/>
          </a:solidFill>
          <a:ln/>
        </p:spPr>
      </p:sp>
      <p:sp>
        <p:nvSpPr>
          <p:cNvPr id="9" name="Shape 7"/>
          <p:cNvSpPr/>
          <p:nvPr/>
        </p:nvSpPr>
        <p:spPr>
          <a:xfrm>
            <a:off x="3602736" y="3401568"/>
            <a:ext cx="329184" cy="329184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10" name="Text 8"/>
          <p:cNvSpPr/>
          <p:nvPr/>
        </p:nvSpPr>
        <p:spPr>
          <a:xfrm>
            <a:off x="2852928" y="3886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974336" y="3200400"/>
            <a:ext cx="2011680" cy="1280160"/>
          </a:xfrm>
          <a:prstGeom prst="roundRect">
            <a:avLst>
              <a:gd name="adj" fmla="val 8571"/>
            </a:avLst>
          </a:prstGeom>
          <a:solidFill>
            <a:srgbClr val="17171C"/>
          </a:solidFill>
          <a:ln/>
        </p:spPr>
      </p:sp>
      <p:sp>
        <p:nvSpPr>
          <p:cNvPr id="12" name="Shape 10"/>
          <p:cNvSpPr/>
          <p:nvPr/>
        </p:nvSpPr>
        <p:spPr>
          <a:xfrm>
            <a:off x="5815584" y="3401568"/>
            <a:ext cx="329184" cy="329184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13" name="Text 11"/>
          <p:cNvSpPr/>
          <p:nvPr/>
        </p:nvSpPr>
        <p:spPr>
          <a:xfrm>
            <a:off x="5065776" y="3886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187184" y="3200400"/>
            <a:ext cx="2011680" cy="1280160"/>
          </a:xfrm>
          <a:prstGeom prst="roundRect">
            <a:avLst>
              <a:gd name="adj" fmla="val 8571"/>
            </a:avLst>
          </a:prstGeom>
          <a:solidFill>
            <a:srgbClr val="17171C"/>
          </a:solidFill>
          <a:ln/>
        </p:spPr>
      </p:sp>
      <p:sp>
        <p:nvSpPr>
          <p:cNvPr id="15" name="Shape 13"/>
          <p:cNvSpPr/>
          <p:nvPr/>
        </p:nvSpPr>
        <p:spPr>
          <a:xfrm>
            <a:off x="8028432" y="3401568"/>
            <a:ext cx="329184" cy="329184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16" name="Text 14"/>
          <p:cNvSpPr/>
          <p:nvPr/>
        </p:nvSpPr>
        <p:spPr>
          <a:xfrm>
            <a:off x="7278624" y="3886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400032" y="3200400"/>
            <a:ext cx="2011680" cy="1280160"/>
          </a:xfrm>
          <a:prstGeom prst="roundRect">
            <a:avLst>
              <a:gd name="adj" fmla="val 8571"/>
            </a:avLst>
          </a:prstGeom>
          <a:solidFill>
            <a:srgbClr val="17171C"/>
          </a:solidFill>
          <a:ln/>
        </p:spPr>
      </p:sp>
      <p:sp>
        <p:nvSpPr>
          <p:cNvPr id="18" name="Shape 16"/>
          <p:cNvSpPr/>
          <p:nvPr/>
        </p:nvSpPr>
        <p:spPr>
          <a:xfrm>
            <a:off x="10241280" y="3401568"/>
            <a:ext cx="329184" cy="329184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19" name="Text 17"/>
          <p:cNvSpPr/>
          <p:nvPr/>
        </p:nvSpPr>
        <p:spPr>
          <a:xfrm>
            <a:off x="9491472" y="3886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4892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outreach runs conversation-first and non-promotional to fit community norms — not a broadcast pitch.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55321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usage, pain points, willingness-to-use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206240" y="55321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automation primitives by demand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863840" y="55321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DCA + auto-compound, first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SOLANACHAT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tied directly to positions under management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56432" cy="3291840"/>
          </a:xfrm>
          <a:prstGeom prst="roundRect">
            <a:avLst>
              <a:gd name="adj" fmla="val 3333"/>
            </a:avLst>
          </a:prstGeom>
          <a:solidFill>
            <a:srgbClr val="17171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6" name="Shape 4"/>
          <p:cNvSpPr/>
          <p:nvPr/>
        </p:nvSpPr>
        <p:spPr>
          <a:xfrm rot="2700000">
            <a:off x="987415" y="2198218"/>
            <a:ext cx="110642" cy="110642"/>
          </a:xfrm>
          <a:prstGeom prst="line">
            <a:avLst/>
          </a:prstGeom>
          <a:noFill/>
          <a:ln w="5588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2700000">
            <a:off x="987415" y="2308860"/>
            <a:ext cx="110642" cy="110642"/>
          </a:xfrm>
          <a:prstGeom prst="line">
            <a:avLst/>
          </a:prstGeom>
          <a:noFill/>
          <a:ln w="5588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4595" y="2243480"/>
            <a:ext cx="130759" cy="130759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34640"/>
            <a:ext cx="29077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/ automation fee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290779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fee on the value moved or optimized through automated strategies — revenue scales with usage, not seats.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61104" y="1783080"/>
            <a:ext cx="3456432" cy="3291840"/>
          </a:xfrm>
          <a:prstGeom prst="roundRect">
            <a:avLst>
              <a:gd name="adj" fmla="val 3333"/>
            </a:avLst>
          </a:prstGeom>
          <a:solidFill>
            <a:srgbClr val="17171C"/>
          </a:solidFill>
          <a:ln/>
        </p:spPr>
      </p:sp>
      <p:sp>
        <p:nvSpPr>
          <p:cNvPr id="12" name="Shape 10"/>
          <p:cNvSpPr/>
          <p:nvPr/>
        </p:nvSpPr>
        <p:spPr>
          <a:xfrm>
            <a:off x="4535424" y="2057400"/>
            <a:ext cx="502920" cy="502920"/>
          </a:xfrm>
          <a:prstGeom prst="ellipse">
            <a:avLst/>
          </a:prstGeom>
          <a:solidFill>
            <a:srgbClr val="14F195"/>
          </a:solidFill>
          <a:ln/>
        </p:spPr>
      </p:sp>
      <p:sp>
        <p:nvSpPr>
          <p:cNvPr id="13" name="Shape 11"/>
          <p:cNvSpPr/>
          <p:nvPr/>
        </p:nvSpPr>
        <p:spPr>
          <a:xfrm rot="2700000">
            <a:off x="4699879" y="2198218"/>
            <a:ext cx="110642" cy="110642"/>
          </a:xfrm>
          <a:prstGeom prst="line">
            <a:avLst/>
          </a:prstGeom>
          <a:noFill/>
          <a:ln w="55880">
            <a:solidFill>
              <a:srgbClr val="0D0D0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-2700000">
            <a:off x="4699879" y="2308860"/>
            <a:ext cx="110642" cy="110642"/>
          </a:xfrm>
          <a:prstGeom prst="line">
            <a:avLst/>
          </a:prstGeom>
          <a:noFill/>
          <a:ln w="55880">
            <a:solidFill>
              <a:srgbClr val="0D0D0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17059" y="2243480"/>
            <a:ext cx="130759" cy="130759"/>
          </a:xfrm>
          <a:prstGeom prst="roundRect">
            <a:avLst>
              <a:gd name="adj" fmla="val 18000"/>
            </a:avLst>
          </a:prstGeom>
          <a:solidFill>
            <a:srgbClr val="0D0D0F"/>
          </a:solidFill>
          <a:ln/>
        </p:spPr>
      </p:sp>
      <p:sp>
        <p:nvSpPr>
          <p:cNvPr id="16" name="Text 14"/>
          <p:cNvSpPr/>
          <p:nvPr/>
        </p:nvSpPr>
        <p:spPr>
          <a:xfrm>
            <a:off x="4535424" y="2834640"/>
            <a:ext cx="29077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535424" y="3474720"/>
            <a:ext cx="290779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tiers for advanced, multi-protocol strategies, built on Solana's native Subscriptions primitive.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73568" y="1783080"/>
            <a:ext cx="3456432" cy="3291840"/>
          </a:xfrm>
          <a:prstGeom prst="roundRect">
            <a:avLst>
              <a:gd name="adj" fmla="val 3333"/>
            </a:avLst>
          </a:prstGeom>
          <a:solidFill>
            <a:srgbClr val="17171C"/>
          </a:solidFill>
          <a:ln/>
        </p:spPr>
      </p:sp>
      <p:sp>
        <p:nvSpPr>
          <p:cNvPr id="19" name="Shape 17"/>
          <p:cNvSpPr/>
          <p:nvPr/>
        </p:nvSpPr>
        <p:spPr>
          <a:xfrm>
            <a:off x="8247888" y="2057400"/>
            <a:ext cx="502920" cy="502920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20" name="Shape 18"/>
          <p:cNvSpPr/>
          <p:nvPr/>
        </p:nvSpPr>
        <p:spPr>
          <a:xfrm rot="2700000">
            <a:off x="8412343" y="2198218"/>
            <a:ext cx="110642" cy="110642"/>
          </a:xfrm>
          <a:prstGeom prst="line">
            <a:avLst/>
          </a:prstGeom>
          <a:noFill/>
          <a:ln w="5588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-2700000">
            <a:off x="8412343" y="2308860"/>
            <a:ext cx="110642" cy="110642"/>
          </a:xfrm>
          <a:prstGeom prst="line">
            <a:avLst/>
          </a:prstGeom>
          <a:noFill/>
          <a:ln w="5588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29523" y="2243480"/>
            <a:ext cx="130759" cy="130759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8247888" y="2834640"/>
            <a:ext cx="29077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Community-native distribution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247888" y="3474720"/>
            <a:ext cx="290779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CAC by going where Solana DeFi users already are — X, Discord, and Telegram — rather than paid acquisition.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52578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model to be finalized against validation findings from current outreach.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SOLANACHAT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validation to the full On-Chain CFO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897380" y="2084832"/>
            <a:ext cx="8092440" cy="0"/>
          </a:xfrm>
          <a:prstGeom prst="line">
            <a:avLst/>
          </a:prstGeom>
          <a:noFill/>
          <a:ln w="25400">
            <a:solidFill>
              <a:srgbClr val="2A2A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69364" y="1956816"/>
            <a:ext cx="256032" cy="256032"/>
          </a:xfrm>
          <a:prstGeom prst="ellipse">
            <a:avLst/>
          </a:prstGeom>
          <a:solidFill>
            <a:srgbClr val="14F195"/>
          </a:solidFill>
          <a:ln w="25400">
            <a:solidFill>
              <a:srgbClr val="14F19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317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(now)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66844" y="1956816"/>
            <a:ext cx="256032" cy="256032"/>
          </a:xfrm>
          <a:prstGeom prst="ellipse">
            <a:avLst/>
          </a:prstGeom>
          <a:solidFill>
            <a:srgbClr val="1E1E24"/>
          </a:solidFill>
          <a:ln w="25400">
            <a:solidFill>
              <a:srgbClr val="3A3A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23317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37560" y="26517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DCA + auto-compound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64324" y="1956816"/>
            <a:ext cx="256032" cy="256032"/>
          </a:xfrm>
          <a:prstGeom prst="ellipse">
            <a:avLst/>
          </a:prstGeom>
          <a:solidFill>
            <a:srgbClr val="1E1E24"/>
          </a:solidFill>
          <a:ln w="25400">
            <a:solidFill>
              <a:srgbClr val="3A3A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23317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35040" y="26517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Kamino + Drift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861804" y="1956816"/>
            <a:ext cx="256032" cy="256032"/>
          </a:xfrm>
          <a:prstGeom prst="ellipse">
            <a:avLst/>
          </a:prstGeom>
          <a:solidFill>
            <a:srgbClr val="1E1E24"/>
          </a:solidFill>
          <a:ln w="25400">
            <a:solidFill>
              <a:srgbClr val="3A3A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32520" y="23317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suite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732520" y="26517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Stop-loss + Allowances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10789920" cy="2286000"/>
          </a:xfrm>
          <a:prstGeom prst="roundRect">
            <a:avLst>
              <a:gd name="adj" fmla="val 5600"/>
            </a:avLst>
          </a:prstGeom>
          <a:solidFill>
            <a:srgbClr val="17171C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931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429768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a pre-seed round to fund MVP development, a security audit, and initial protocol integrations.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406640" y="41605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Raise amount — to confirm ]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406640" y="489204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E1E24"/>
          </a:solidFill>
          <a:ln/>
        </p:spPr>
      </p:sp>
      <p:sp>
        <p:nvSpPr>
          <p:cNvPr id="22" name="Text 20"/>
          <p:cNvSpPr/>
          <p:nvPr/>
        </p:nvSpPr>
        <p:spPr>
          <a:xfrm>
            <a:off x="7406640" y="48920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915400" y="489204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E1E24"/>
          </a:solidFill>
          <a:ln/>
        </p:spPr>
      </p:sp>
      <p:sp>
        <p:nvSpPr>
          <p:cNvPr id="24" name="Text 22"/>
          <p:cNvSpPr/>
          <p:nvPr/>
        </p:nvSpPr>
        <p:spPr>
          <a:xfrm>
            <a:off x="8915400" y="48920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424160" y="489204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E1E24"/>
          </a:solidFill>
          <a:ln/>
        </p:spPr>
      </p:sp>
      <p:sp>
        <p:nvSpPr>
          <p:cNvPr id="26" name="Text 24"/>
          <p:cNvSpPr/>
          <p:nvPr/>
        </p:nvSpPr>
        <p:spPr>
          <a:xfrm>
            <a:off x="10424160" y="48920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integrations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SOLANACHAT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84368" y="1371600"/>
            <a:ext cx="822960" cy="822960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5953476" y="1602029"/>
            <a:ext cx="181051" cy="181051"/>
          </a:xfrm>
          <a:prstGeom prst="line">
            <a:avLst/>
          </a:prstGeom>
          <a:noFill/>
          <a:ln w="9144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2700000">
            <a:off x="5953476" y="1783080"/>
            <a:ext cx="181051" cy="181051"/>
          </a:xfrm>
          <a:prstGeom prst="line">
            <a:avLst/>
          </a:prstGeom>
          <a:noFill/>
          <a:ln w="9144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45225" y="1676095"/>
            <a:ext cx="213970" cy="21397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251460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On-Chain CFO</a:t>
            </a:r>
            <a:endParaRPr lang="en-US" sz="3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Solana.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0" y="379476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SolanaChat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42976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contact@solanachat.xyz  ·  @solanachat  ·  solanachat.xyz 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2026-07-12T18:53:48Z</dcterms:created>
  <dcterms:modified xsi:type="dcterms:W3CDTF">2026-07-12T18:53:48Z</dcterms:modified>
</cp:coreProperties>
</file>